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435667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6400" b="1">
                <a:solidFill>
                  <a:srgbClr val="F48B29"/>
                </a:solidFill>
                <a:latin typeface="Spectral"/>
              </a:defRPr>
            </a:pPr>
            <a:r>
              <a:t>S4C Ninja Inkflow</a:t>
            </a:r>
          </a:p>
          <a:p>
            <a:pPr>
              <a:spcAft>
                <a:spcPts val="3600"/>
              </a:spcAft>
              <a:defRPr sz="2800">
                <a:solidFill>
                  <a:srgbClr val="FFFFFF"/>
                </a:solidFill>
                <a:latin typeface="Hanken Grotesk"/>
              </a:defRPr>
            </a:pPr>
            <a:r>
              <a:t>Automating the Manuscript &amp; Publishing Lifecycle</a:t>
            </a:r>
          </a:p>
          <a:p>
            <a:pPr>
              <a:defRPr sz="1600">
                <a:solidFill>
                  <a:srgbClr val="68809D"/>
                </a:solidFill>
                <a:latin typeface="Hanken Grotesk"/>
              </a:defRPr>
            </a:pPr>
            <a:r>
              <a:t>Prepared for Senior Management  |  Technical &amp; Business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4114800" cy="73152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48B29"/>
                </a:solidFill>
                <a:latin typeface="Hanken Grotesk"/>
              </a:defRPr>
            </a:pPr>
            <a:r>
              <a:t>S4C Ninja Inkflow  |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Hanken Grotesk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B4F9C"/>
                </a:solidFill>
                <a:latin typeface="Spectral"/>
              </a:defRPr>
            </a:pPr>
            <a:r>
              <a:t>The Publishing Bottleneck (The Problem)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48B29"/>
          </a:solidFill>
          <a:ln>
            <a:solidFill>
              <a:srgbClr val="F48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4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28947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B4F9C"/>
                </a:solidFill>
                <a:latin typeface="Hanken Grotesk"/>
              </a:defRPr>
            </a:pPr>
            <a:r>
              <a:t>•  Manual Editing &amp; Layout Workflows</a:t>
            </a:r>
          </a:p>
          <a:p>
            <a:pPr>
              <a:spcAft>
                <a:spcPts val="1400"/>
              </a:spcAft>
              <a:defRPr sz="1400">
                <a:solidFill>
                  <a:srgbClr val="121822"/>
                </a:solidFill>
                <a:latin typeface="Hanken Grotesk"/>
              </a:defRPr>
            </a:pPr>
            <a:r>
              <a:t>Swapping between separate applications to edit text structure, equations, citations, and XML tags.</a:t>
            </a:r>
          </a:p>
          <a:p>
            <a:pPr>
              <a:spcAft>
                <a:spcPts val="200"/>
              </a:spcAft>
              <a:defRPr sz="1800" b="1">
                <a:solidFill>
                  <a:srgbClr val="1B4F9C"/>
                </a:solidFill>
                <a:latin typeface="Hanken Grotesk"/>
              </a:defRPr>
            </a:pPr>
            <a:r>
              <a:t>•  Pre-Press Processing Delays</a:t>
            </a:r>
          </a:p>
          <a:p>
            <a:pPr>
              <a:spcAft>
                <a:spcPts val="1400"/>
              </a:spcAft>
              <a:defRPr sz="1400">
                <a:solidFill>
                  <a:srgbClr val="121822"/>
                </a:solidFill>
                <a:latin typeface="Hanken Grotesk"/>
              </a:defRPr>
            </a:pPr>
            <a:r>
              <a:t>Time-consuming manual steps for reference validation, bias scanning, and extracting backlist titles.</a:t>
            </a:r>
          </a:p>
          <a:p>
            <a:pPr>
              <a:spcAft>
                <a:spcPts val="200"/>
              </a:spcAft>
              <a:defRPr sz="1800" b="1">
                <a:solidFill>
                  <a:srgbClr val="1B4F9C"/>
                </a:solidFill>
                <a:latin typeface="Hanken Grotesk"/>
              </a:defRPr>
            </a:pPr>
            <a:r>
              <a:t>•  Version &amp; Edit Conflicts</a:t>
            </a:r>
          </a:p>
          <a:p>
            <a:pPr>
              <a:spcAft>
                <a:spcPts val="1400"/>
              </a:spcAft>
              <a:defRPr sz="1400">
                <a:solidFill>
                  <a:srgbClr val="121822"/>
                </a:solidFill>
                <a:latin typeface="Hanken Grotesk"/>
              </a:defRPr>
            </a:pPr>
            <a:r>
              <a:t>Reviewing files via email updates causes version confusion, duplicate work, and tracking loss.</a:t>
            </a:r>
          </a:p>
          <a:p>
            <a:pPr>
              <a:spcAft>
                <a:spcPts val="200"/>
              </a:spcAft>
              <a:defRPr sz="1800" b="1">
                <a:solidFill>
                  <a:srgbClr val="1B4F9C"/>
                </a:solidFill>
                <a:latin typeface="Hanken Grotesk"/>
              </a:defRPr>
            </a:pPr>
            <a:r>
              <a:t>•  Operational Blindspots</a:t>
            </a:r>
          </a:p>
          <a:p>
            <a:pPr>
              <a:spcAft>
                <a:spcPts val="1400"/>
              </a:spcAft>
              <a:defRPr sz="1400">
                <a:solidFill>
                  <a:srgbClr val="121822"/>
                </a:solidFill>
                <a:latin typeface="Hanken Grotesk"/>
              </a:defRPr>
            </a:pPr>
            <a:r>
              <a:t>Difficulty tracking timesheets, billing, or the active progress of chapters and projects in one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11480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800"/>
              </a:spcAft>
              <a:defRPr sz="1400" b="1">
                <a:solidFill>
                  <a:srgbClr val="F48B29"/>
                </a:solidFill>
                <a:latin typeface="Hanken Grotesk"/>
              </a:defRPr>
            </a:pPr>
            <a:r>
              <a:t>THE IMPACT ON OPERATIONS</a:t>
            </a:r>
          </a:p>
          <a:p>
            <a:pPr>
              <a:defRPr sz="1600">
                <a:solidFill>
                  <a:srgbClr val="FFFFFF"/>
                </a:solidFill>
                <a:latin typeface="Hanken Grotesk"/>
              </a:defRPr>
            </a:pPr>
            <a:r>
              <a:t>❌  High Operational Costs</a:t>
            </a:r>
            <a:br/>
            <a:r>
              <a:t>Hours of manual proofreading, math validation, and backlist styling.</a:t>
            </a:r>
            <a:br/>
            <a:r>
              <a:t/>
            </a:r>
            <a:br/>
            <a:r>
              <a:t>❌  Slower Time-to-Market</a:t>
            </a:r>
            <a:br/>
            <a:r>
              <a:t>Manuscripts stalled in conversion queues and verification steps.</a:t>
            </a:r>
            <a:br/>
            <a:r>
              <a:t/>
            </a:r>
            <a:br/>
            <a:r>
              <a:t>❌  Siloed User Management</a:t>
            </a:r>
            <a:br/>
            <a:r>
              <a:t>Lack of integration with company HR database for editing roles.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809D"/>
                </a:solidFill>
                <a:latin typeface="Hanken Grotesk"/>
              </a:defRPr>
            </a:pPr>
            <a:r>
              <a:t>S4C Ninja Inkflow  |  Executive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8809D"/>
                </a:solidFill>
                <a:latin typeface="Hanken Grotesk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B4F9C"/>
                </a:solidFill>
                <a:latin typeface="Spectral"/>
              </a:defRPr>
            </a:pPr>
            <a:r>
              <a:t>S4C Ninja Inkflow (The Solution)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48B29"/>
          </a:solidFill>
          <a:ln>
            <a:solidFill>
              <a:srgbClr val="F48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4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289471" cy="411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3328416" cy="411480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2800" b="1">
                <a:solidFill>
                  <a:srgbClr val="F48B29"/>
                </a:solidFill>
                <a:latin typeface="Spectral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  <a:latin typeface="Hanken Grotesk"/>
              </a:defRPr>
            </a:pPr>
            <a:r>
              <a:t>Unified WYSIWYG Editor</a:t>
            </a:r>
          </a:p>
          <a:p>
            <a:pPr>
              <a:defRPr sz="1400">
                <a:solidFill>
                  <a:srgbClr val="EBF1F7"/>
                </a:solidFill>
                <a:latin typeface="Hanken Grotesk"/>
              </a:defRPr>
            </a:pPr>
            <a:r>
              <a:t>Advanced editor featuring an Equation Editor, Image Editor, Reference View, and Technical Edit View. Eliminates heavy desktop software.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114800"/>
          </a:xfrm>
          <a:prstGeom prst="roundRect">
            <a:avLst/>
          </a:prstGeom>
          <a:solidFill>
            <a:srgbClr val="0F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2800" b="1">
                <a:solidFill>
                  <a:srgbClr val="F48B29"/>
                </a:solidFill>
                <a:latin typeface="Spectral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  <a:latin typeface="Hanken Grotesk"/>
              </a:defRPr>
            </a:pPr>
            <a:r>
              <a:t>WebDAV &amp; Word Integration</a:t>
            </a:r>
          </a:p>
          <a:p>
            <a:pPr>
              <a:defRPr sz="1400">
                <a:solidFill>
                  <a:srgbClr val="EBF1F7"/>
                </a:solidFill>
                <a:latin typeface="Hanken Grotesk"/>
              </a:defRPr>
            </a:pPr>
            <a:r>
              <a:t>Worry-free editing with 'Open in Word' support. Automatically syncs edits from local MS Word back to the server via secure WebDAV protocol.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114800"/>
          </a:xfrm>
          <a:prstGeom prst="round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2800" b="1">
                <a:solidFill>
                  <a:srgbClr val="F48B29"/>
                </a:solidFill>
                <a:latin typeface="Spectral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  <a:latin typeface="Hanken Grotesk"/>
              </a:defRPr>
            </a:pPr>
            <a:r>
              <a:t>Automated PPH Services</a:t>
            </a:r>
          </a:p>
          <a:p>
            <a:pPr>
              <a:defRPr sz="1400">
                <a:solidFill>
                  <a:srgbClr val="EBF1F7"/>
                </a:solidFill>
                <a:latin typeface="Hanken Grotesk"/>
              </a:defRPr>
            </a:pPr>
            <a:r>
              <a:t>Instant pre-press steps: automated Reference Validation, Bias Scan, Word XML conversion, Credit Extraction, and legacy Backlist ingestion.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809D"/>
                </a:solidFill>
                <a:latin typeface="Hanken Grotesk"/>
              </a:defRPr>
            </a:pPr>
            <a:r>
              <a:t>S4C Ninja Inkflow  |  Executive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8809D"/>
                </a:solidFill>
                <a:latin typeface="Hanken Grotesk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B4F9C"/>
                </a:solidFill>
                <a:latin typeface="Spectral"/>
              </a:defRPr>
            </a:pPr>
            <a:r>
              <a:t>Connected Ecosystem &amp; Core 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48B29"/>
          </a:solidFill>
          <a:ln>
            <a:solidFill>
              <a:srgbClr val="F48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4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28947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B4F9C"/>
                </a:solidFill>
                <a:latin typeface="Hanken Grotesk"/>
              </a:defRPr>
            </a:pPr>
            <a:r>
              <a:t>✔  S4C People Hub Integration</a:t>
            </a:r>
          </a:p>
          <a:p>
            <a:pPr>
              <a:spcAft>
                <a:spcPts val="1200"/>
              </a:spcAft>
              <a:defRPr sz="1300">
                <a:solidFill>
                  <a:srgbClr val="121822"/>
                </a:solidFill>
                <a:latin typeface="Hanken Grotesk"/>
              </a:defRPr>
            </a:pPr>
            <a:r>
              <a:t>Directly connects with S4C People Hub for unified user profiles, departments, hierarchy, and roles.</a:t>
            </a:r>
          </a:p>
          <a:p>
            <a:pPr>
              <a:spcAft>
                <a:spcPts val="200"/>
              </a:spcAft>
              <a:defRPr sz="1600" b="1">
                <a:solidFill>
                  <a:srgbClr val="1B4F9C"/>
                </a:solidFill>
                <a:latin typeface="Hanken Grotesk"/>
              </a:defRPr>
            </a:pPr>
            <a:r>
              <a:t>✔  WebDAV 'Open in Word'</a:t>
            </a:r>
          </a:p>
          <a:p>
            <a:pPr>
              <a:spcAft>
                <a:spcPts val="1200"/>
              </a:spcAft>
              <a:defRPr sz="1300">
                <a:solidFill>
                  <a:srgbClr val="121822"/>
                </a:solidFill>
                <a:latin typeface="Hanken Grotesk"/>
              </a:defRPr>
            </a:pPr>
            <a:r>
              <a:t>Allows editors to edit files directly inside local MS Word while tracking changes and lock states on the server.</a:t>
            </a:r>
          </a:p>
          <a:p>
            <a:pPr>
              <a:spcAft>
                <a:spcPts val="200"/>
              </a:spcAft>
              <a:defRPr sz="1600" b="1">
                <a:solidFill>
                  <a:srgbClr val="1B4F9C"/>
                </a:solidFill>
                <a:latin typeface="Hanken Grotesk"/>
              </a:defRPr>
            </a:pPr>
            <a:r>
              <a:t>✔  Rich WYSIWYG Features</a:t>
            </a:r>
          </a:p>
          <a:p>
            <a:pPr>
              <a:spcAft>
                <a:spcPts val="1200"/>
              </a:spcAft>
              <a:defRPr sz="1300">
                <a:solidFill>
                  <a:srgbClr val="121822"/>
                </a:solidFill>
                <a:latin typeface="Hanken Grotesk"/>
              </a:defRPr>
            </a:pPr>
            <a:r>
              <a:t>Equips users with direct browser editing controls: dynamic equations, image cropping/edit, and a live reference view.</a:t>
            </a:r>
          </a:p>
          <a:p>
            <a:pPr>
              <a:spcAft>
                <a:spcPts val="200"/>
              </a:spcAft>
              <a:defRPr sz="1600" b="1">
                <a:solidFill>
                  <a:srgbClr val="1B4F9C"/>
                </a:solidFill>
                <a:latin typeface="Hanken Grotesk"/>
              </a:defRPr>
            </a:pPr>
            <a:r>
              <a:t>✔  Enterprise Security</a:t>
            </a:r>
          </a:p>
          <a:p>
            <a:pPr>
              <a:spcAft>
                <a:spcPts val="1200"/>
              </a:spcAft>
              <a:defRPr sz="1300">
                <a:solidFill>
                  <a:srgbClr val="121822"/>
                </a:solidFill>
                <a:latin typeface="Hanken Grotesk"/>
              </a:defRPr>
            </a:pPr>
            <a:r>
              <a:t>Cookie-based session sync, full transaction trails, and role compliance mappings.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2400"/>
              </a:spcAft>
              <a:defRPr sz="1400" b="1">
                <a:solidFill>
                  <a:srgbClr val="F48B29"/>
                </a:solidFill>
                <a:latin typeface="Hanken Grotesk"/>
              </a:defRPr>
            </a:pPr>
            <a:r>
              <a:t>INTEGRATION SUITE</a:t>
            </a:r>
          </a:p>
          <a:p>
            <a:pPr>
              <a:spcAft>
                <a:spcPts val="200"/>
              </a:spcAft>
              <a:defRPr sz="1500" b="1">
                <a:solidFill>
                  <a:srgbClr val="1B4F9C"/>
                </a:solidFill>
                <a:latin typeface="Hanken Grotesk"/>
              </a:defRPr>
            </a:pPr>
            <a:r>
              <a:t>PPH Services API</a:t>
            </a:r>
          </a:p>
          <a:p>
            <a:pPr>
              <a:spcAft>
                <a:spcPts val="1000"/>
              </a:spcAft>
              <a:defRPr sz="1200">
                <a:solidFill>
                  <a:srgbClr val="68809D"/>
                </a:solidFill>
                <a:latin typeface="Hanken Grotesk"/>
              </a:defRPr>
            </a:pPr>
            <a:r>
              <a:t>Powers Reference Validation, Bias Scan, Credit Extraction, and Word XML.</a:t>
            </a:r>
          </a:p>
          <a:p>
            <a:pPr>
              <a:spcAft>
                <a:spcPts val="200"/>
              </a:spcAft>
              <a:defRPr sz="1500" b="1">
                <a:solidFill>
                  <a:srgbClr val="1B4F9C"/>
                </a:solidFill>
                <a:latin typeface="Hanken Grotesk"/>
              </a:defRPr>
            </a:pPr>
            <a:r>
              <a:t>WYSIWYG Technical View</a:t>
            </a:r>
          </a:p>
          <a:p>
            <a:pPr>
              <a:spcAft>
                <a:spcPts val="1000"/>
              </a:spcAft>
              <a:defRPr sz="1200">
                <a:solidFill>
                  <a:srgbClr val="68809D"/>
                </a:solidFill>
                <a:latin typeface="Hanken Grotesk"/>
              </a:defRPr>
            </a:pPr>
            <a:r>
              <a:t>Live browser technical view representing structural JATS XML markers.</a:t>
            </a:r>
          </a:p>
          <a:p>
            <a:pPr>
              <a:spcAft>
                <a:spcPts val="200"/>
              </a:spcAft>
              <a:defRPr sz="1500" b="1">
                <a:solidFill>
                  <a:srgbClr val="1B4F9C"/>
                </a:solidFill>
                <a:latin typeface="Hanken Grotesk"/>
              </a:defRPr>
            </a:pPr>
            <a:r>
              <a:t>Backlist Ingestion Module</a:t>
            </a:r>
          </a:p>
          <a:p>
            <a:pPr>
              <a:spcAft>
                <a:spcPts val="1000"/>
              </a:spcAft>
              <a:defRPr sz="1200">
                <a:solidFill>
                  <a:srgbClr val="68809D"/>
                </a:solidFill>
                <a:latin typeface="Hanken Grotesk"/>
              </a:defRPr>
            </a:pPr>
            <a:r>
              <a:t>Processes legacy and archive books into modern digital templates.</a:t>
            </a:r>
          </a:p>
          <a:p>
            <a:pPr>
              <a:spcAft>
                <a:spcPts val="200"/>
              </a:spcAft>
              <a:defRPr sz="1500" b="1">
                <a:solidFill>
                  <a:srgbClr val="1B4F9C"/>
                </a:solidFill>
                <a:latin typeface="Hanken Grotesk"/>
              </a:defRPr>
            </a:pPr>
            <a:r>
              <a:t>OnlyOffice Server</a:t>
            </a:r>
          </a:p>
          <a:p>
            <a:pPr>
              <a:spcAft>
                <a:spcPts val="1000"/>
              </a:spcAft>
              <a:defRPr sz="1200">
                <a:solidFill>
                  <a:srgbClr val="68809D"/>
                </a:solidFill>
                <a:latin typeface="Hanken Grotesk"/>
              </a:defRPr>
            </a:pPr>
            <a:r>
              <a:t>Optional browser editor for spreadsheet/document formatting.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809D"/>
                </a:solidFill>
                <a:latin typeface="Hanken Grotesk"/>
              </a:defRPr>
            </a:pPr>
            <a:r>
              <a:t>S4C Ninja Inkflow  |  Executive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8809D"/>
                </a:solidFill>
                <a:latin typeface="Hanken Grotesk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B4F9C"/>
                </a:solidFill>
                <a:latin typeface="Spectral"/>
              </a:defRPr>
            </a:pPr>
            <a:r>
              <a:t>Automated PPH &amp; Conversion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48B29"/>
          </a:solidFill>
          <a:ln>
            <a:solidFill>
              <a:srgbClr val="F48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4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28947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F48B29"/>
                </a:solidFill>
                <a:latin typeface="Hanken Grotesk"/>
              </a:defRPr>
            </a:pPr>
            <a:r>
              <a:t>1. File Ingestion &amp; Word XML Parsing</a:t>
            </a:r>
          </a:p>
          <a:p>
            <a:pPr>
              <a:spcAft>
                <a:spcPts val="10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Extracts structure from raw DOCX templates and normalizes paragraphs, styles, and character sets.</a:t>
            </a:r>
          </a:p>
          <a:p>
            <a:pPr>
              <a:spcAft>
                <a:spcPts val="100"/>
              </a:spcAft>
              <a:defRPr sz="1600" b="1">
                <a:solidFill>
                  <a:srgbClr val="F48B29"/>
                </a:solidFill>
                <a:latin typeface="Hanken Grotesk"/>
              </a:defRPr>
            </a:pPr>
            <a:r>
              <a:t>2. Technical Edit &amp; WYSIWYG View</a:t>
            </a:r>
          </a:p>
          <a:p>
            <a:pPr>
              <a:spcAft>
                <a:spcPts val="10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Generates the live browser view. Supports mathematical equation editing, image cropping, and style validations.</a:t>
            </a:r>
          </a:p>
          <a:p>
            <a:pPr>
              <a:spcAft>
                <a:spcPts val="100"/>
              </a:spcAft>
              <a:defRPr sz="1600" b="1">
                <a:solidFill>
                  <a:srgbClr val="F48B29"/>
                </a:solidFill>
                <a:latin typeface="Hanken Grotesk"/>
              </a:defRPr>
            </a:pPr>
            <a:r>
              <a:t>3. Bias Scan &amp; Credit Extraction</a:t>
            </a:r>
          </a:p>
          <a:p>
            <a:pPr>
              <a:spcAft>
                <a:spcPts val="10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Scans text for gender/diversity bias using automated models and pulls credit/contribution metadata.</a:t>
            </a:r>
          </a:p>
          <a:p>
            <a:pPr>
              <a:spcAft>
                <a:spcPts val="100"/>
              </a:spcAft>
              <a:defRPr sz="1600" b="1">
                <a:solidFill>
                  <a:srgbClr val="F48B29"/>
                </a:solidFill>
                <a:latin typeface="Hanken Grotesk"/>
              </a:defRPr>
            </a:pPr>
            <a:r>
              <a:t>4. Reference Validation &amp; Citation Audit</a:t>
            </a:r>
          </a:p>
          <a:p>
            <a:pPr>
              <a:spcAft>
                <a:spcPts val="10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Cross-checks bibliography against global registries to ensure links and indexes are correct.</a:t>
            </a:r>
          </a:p>
          <a:p>
            <a:pPr>
              <a:spcAft>
                <a:spcPts val="100"/>
              </a:spcAft>
              <a:defRPr sz="1600" b="1">
                <a:solidFill>
                  <a:srgbClr val="F48B29"/>
                </a:solidFill>
                <a:latin typeface="Hanken Grotesk"/>
              </a:defRPr>
            </a:pPr>
            <a:r>
              <a:t>5. Backlist &amp; Output Generation</a:t>
            </a:r>
          </a:p>
          <a:p>
            <a:pPr>
              <a:spcAft>
                <a:spcPts val="10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Imports legacy backlist files, builds structured outputs (JATS XML, ePub), and handles checkout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809D"/>
                </a:solidFill>
                <a:latin typeface="Hanken Grotesk"/>
              </a:defRPr>
            </a:pPr>
            <a:r>
              <a:t>S4C Ninja Inkflow  |  Executive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8809D"/>
                </a:solidFill>
                <a:latin typeface="Hanken Grotesk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B4F9C"/>
                </a:solidFill>
                <a:latin typeface="Spectral"/>
              </a:defRPr>
            </a:pPr>
            <a:r>
              <a:t>Roadmap Phase 1: People Hub &amp; WebDAV Sync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48B29"/>
          </a:solidFill>
          <a:ln>
            <a:solidFill>
              <a:srgbClr val="F48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4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28947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B4F9C"/>
                </a:solidFill>
                <a:latin typeface="Hanken Grotesk"/>
              </a:defRPr>
            </a:pPr>
            <a:r>
              <a:t>✦  S4C People Hub Integration</a:t>
            </a:r>
          </a:p>
          <a:p>
            <a:pPr>
              <a:spcAft>
                <a:spcPts val="12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Sync users, project managers, editors, and roles directly from S4C's central directory database.</a:t>
            </a:r>
          </a:p>
          <a:p>
            <a:pPr>
              <a:spcAft>
                <a:spcPts val="200"/>
              </a:spcAft>
              <a:defRPr sz="1700" b="1">
                <a:solidFill>
                  <a:srgbClr val="1B4F9C"/>
                </a:solidFill>
                <a:latin typeface="Hanken Grotesk"/>
              </a:defRPr>
            </a:pPr>
            <a:r>
              <a:t>✦  WebDAV 'Open in Word' Extension</a:t>
            </a:r>
          </a:p>
          <a:p>
            <a:pPr>
              <a:spcAft>
                <a:spcPts val="12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Enables seamless edit flows. Clicking 'Edit in Word' opens MS Word locally, saving lock states to backend.</a:t>
            </a:r>
          </a:p>
          <a:p>
            <a:pPr>
              <a:spcAft>
                <a:spcPts val="200"/>
              </a:spcAft>
              <a:defRPr sz="1700" b="1">
                <a:solidFill>
                  <a:srgbClr val="1B4F9C"/>
                </a:solidFill>
                <a:latin typeface="Hanken Grotesk"/>
              </a:defRPr>
            </a:pPr>
            <a:r>
              <a:t>✦  Backlist Migration Ingestor</a:t>
            </a:r>
          </a:p>
          <a:p>
            <a:pPr>
              <a:spcAft>
                <a:spcPts val="12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Batch processing pipelines to convert legacy formats into high-fidelity JATS XML.</a:t>
            </a:r>
          </a:p>
          <a:p>
            <a:pPr>
              <a:spcAft>
                <a:spcPts val="200"/>
              </a:spcAft>
              <a:defRPr sz="1700" b="1">
                <a:solidFill>
                  <a:srgbClr val="1B4F9C"/>
                </a:solidFill>
                <a:latin typeface="Hanken Grotesk"/>
              </a:defRPr>
            </a:pPr>
            <a:r>
              <a:t>✦  Department Role Mapping</a:t>
            </a:r>
          </a:p>
          <a:p>
            <a:pPr>
              <a:spcAft>
                <a:spcPts val="12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Automated role assignments based on People Hub departmental attributes.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657600" cy="4114800"/>
          </a:xfrm>
          <a:prstGeom prst="roundRect">
            <a:avLst/>
          </a:prstGeom>
          <a:solidFill>
            <a:srgbClr val="0F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800"/>
              </a:spcAft>
              <a:defRPr sz="1400" b="1">
                <a:solidFill>
                  <a:srgbClr val="F48B29"/>
                </a:solidFill>
                <a:latin typeface="Hanken Grotesk"/>
              </a:defRPr>
            </a:pPr>
            <a:r>
              <a:t>TIMELINE: NEXT 6-12 MONTHS</a:t>
            </a:r>
          </a:p>
          <a:p>
            <a:pPr>
              <a:defRPr sz="1500">
                <a:solidFill>
                  <a:srgbClr val="FFFFFF"/>
                </a:solidFill>
                <a:latin typeface="Hanken Grotesk"/>
              </a:defRPr>
            </a:pPr>
            <a:r>
              <a:t>Goal:</a:t>
            </a:r>
            <a:br/>
            <a:r>
              <a:t>Establish corporate systems sync &amp; offline Word workflows.</a:t>
            </a:r>
            <a:br/>
            <a:r>
              <a:t/>
            </a:r>
            <a:br/>
            <a:r>
              <a:t>Value Focus:</a:t>
            </a:r>
            <a:br/>
            <a:r>
              <a:t>Eliminates siloed logins. Retains MS Word power-editing while enforcing version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809D"/>
                </a:solidFill>
                <a:latin typeface="Hanken Grotesk"/>
              </a:defRPr>
            </a:pPr>
            <a:r>
              <a:t>S4C Ninja Inkflow  |  Executive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8809D"/>
                </a:solidFill>
                <a:latin typeface="Hanken Grotesk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B4F9C"/>
                </a:solidFill>
                <a:latin typeface="Spectral"/>
              </a:defRPr>
            </a:pPr>
            <a:r>
              <a:t>Roadmap Phase 2: Upcoming Operational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48B29"/>
          </a:solidFill>
          <a:ln>
            <a:solidFill>
              <a:srgbClr val="F48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4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28947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B4F9C"/>
                </a:solidFill>
                <a:latin typeface="Hanken Grotesk"/>
              </a:defRPr>
            </a:pPr>
            <a:r>
              <a:t>✦  Timesheet Module</a:t>
            </a:r>
          </a:p>
          <a:p>
            <a:pPr>
              <a:spcAft>
                <a:spcPts val="12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Tracks editorial time logs automatically per chapter and manuscript stage.</a:t>
            </a:r>
          </a:p>
          <a:p>
            <a:pPr>
              <a:spcAft>
                <a:spcPts val="200"/>
              </a:spcAft>
              <a:defRPr sz="1700" b="1">
                <a:solidFill>
                  <a:srgbClr val="1B4F9C"/>
                </a:solidFill>
                <a:latin typeface="Hanken Grotesk"/>
              </a:defRPr>
            </a:pPr>
            <a:r>
              <a:t>✦  Tracking Projects &amp; Chapters</a:t>
            </a:r>
          </a:p>
          <a:p>
            <a:pPr>
              <a:spcAft>
                <a:spcPts val="12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Visual Gantt and Kanban maps depicting step completion, deadlines, and project velocity.</a:t>
            </a:r>
          </a:p>
          <a:p>
            <a:pPr>
              <a:spcAft>
                <a:spcPts val="200"/>
              </a:spcAft>
              <a:defRPr sz="1700" b="1">
                <a:solidFill>
                  <a:srgbClr val="1B4F9C"/>
                </a:solidFill>
                <a:latin typeface="Hanken Grotesk"/>
              </a:defRPr>
            </a:pPr>
            <a:r>
              <a:t>✦  Billing &amp; Invoicing Module</a:t>
            </a:r>
          </a:p>
          <a:p>
            <a:pPr>
              <a:spcAft>
                <a:spcPts val="12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Auto-calculates editorial invoice costs and generates billing templates for freelance editors.</a:t>
            </a:r>
          </a:p>
          <a:p>
            <a:pPr>
              <a:spcAft>
                <a:spcPts val="200"/>
              </a:spcAft>
              <a:defRPr sz="1700" b="1">
                <a:solidFill>
                  <a:srgbClr val="1B4F9C"/>
                </a:solidFill>
                <a:latin typeface="Hanken Grotesk"/>
              </a:defRPr>
            </a:pPr>
            <a:r>
              <a:t>✦  Journal Production Module</a:t>
            </a:r>
          </a:p>
          <a:p>
            <a:pPr>
              <a:spcAft>
                <a:spcPts val="1200"/>
              </a:spcAft>
              <a:defRPr sz="1350">
                <a:solidFill>
                  <a:srgbClr val="121822"/>
                </a:solidFill>
                <a:latin typeface="Hanken Grotesk"/>
              </a:defRPr>
            </a:pPr>
            <a:r>
              <a:t>Complete management framework for recurring journal issues, volumes, and page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657600" cy="4114800"/>
          </a:xfrm>
          <a:prstGeom prst="round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800"/>
              </a:spcAft>
              <a:defRPr sz="1400" b="1">
                <a:solidFill>
                  <a:srgbClr val="F48B29"/>
                </a:solidFill>
                <a:latin typeface="Hanken Grotesk"/>
              </a:defRPr>
            </a:pPr>
            <a:r>
              <a:t>TIMELINE: 12+ MONTHS</a:t>
            </a:r>
          </a:p>
          <a:p>
            <a:pPr>
              <a:defRPr sz="1500">
                <a:solidFill>
                  <a:srgbClr val="FFFFFF"/>
                </a:solidFill>
                <a:latin typeface="Hanken Grotesk"/>
              </a:defRPr>
            </a:pPr>
            <a:r>
              <a:t>Goal:</a:t>
            </a:r>
            <a:br/>
            <a:r>
              <a:t>Provide complete operations &amp; commercial workflow modules.</a:t>
            </a:r>
            <a:br/>
            <a:r>
              <a:t/>
            </a:r>
            <a:br/>
            <a:r>
              <a:t>Value Focus:</a:t>
            </a:r>
            <a:br/>
            <a:r>
              <a:t>Saves hours of project management, tracks vendor invoices, and maps annual journal volumes.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809D"/>
                </a:solidFill>
                <a:latin typeface="Hanken Grotesk"/>
              </a:defRPr>
            </a:pPr>
            <a:r>
              <a:t>S4C Ninja Inkflow  |  Executive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8809D"/>
                </a:solidFill>
                <a:latin typeface="Hanken Grotesk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B4F9C"/>
                </a:solidFill>
                <a:latin typeface="Spectral"/>
              </a:defRPr>
            </a:pPr>
            <a:r>
              <a:t>Expected ROI &amp; Strategic 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48B29"/>
          </a:solidFill>
          <a:ln>
            <a:solidFill>
              <a:srgbClr val="F48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4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289471" cy="411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88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800"/>
              </a:spcAft>
              <a:defRPr sz="1500" b="1">
                <a:solidFill>
                  <a:srgbClr val="68809D"/>
                </a:solidFill>
                <a:latin typeface="Hanken Grotesk"/>
              </a:defRPr>
            </a:pPr>
            <a:r>
              <a:t>TRADITIONAL PUBLISHING WORKFLOW</a:t>
            </a:r>
          </a:p>
          <a:p>
            <a:pPr>
              <a:spcAft>
                <a:spcPts val="1400"/>
              </a:spcAft>
              <a:defRPr sz="1450">
                <a:solidFill>
                  <a:srgbClr val="121822"/>
                </a:solidFill>
                <a:latin typeface="Hanken Grotesk"/>
              </a:defRPr>
            </a:pPr>
            <a:r>
              <a:t>❌  Expensive server office licensing costs</a:t>
            </a:r>
          </a:p>
          <a:p>
            <a:pPr>
              <a:spcAft>
                <a:spcPts val="1400"/>
              </a:spcAft>
              <a:defRPr sz="1450">
                <a:solidFill>
                  <a:srgbClr val="121822"/>
                </a:solidFill>
                <a:latin typeface="Hanken Grotesk"/>
              </a:defRPr>
            </a:pPr>
            <a:r>
              <a:t>❌  Manual, time-consuming pre-press services</a:t>
            </a:r>
          </a:p>
          <a:p>
            <a:pPr>
              <a:spcAft>
                <a:spcPts val="1400"/>
              </a:spcAft>
              <a:defRPr sz="1450">
                <a:solidFill>
                  <a:srgbClr val="121822"/>
                </a:solidFill>
                <a:latin typeface="Hanken Grotesk"/>
              </a:defRPr>
            </a:pPr>
            <a:r>
              <a:t>❌  Siloed user administration databases</a:t>
            </a:r>
          </a:p>
          <a:p>
            <a:pPr>
              <a:spcAft>
                <a:spcPts val="1400"/>
              </a:spcAft>
              <a:defRPr sz="1450">
                <a:solidFill>
                  <a:srgbClr val="121822"/>
                </a:solidFill>
                <a:latin typeface="Hanken Grotesk"/>
              </a:defRPr>
            </a:pPr>
            <a:r>
              <a:t>❌  Frequent revision collisions via email edits</a:t>
            </a:r>
          </a:p>
          <a:p>
            <a:pPr>
              <a:spcAft>
                <a:spcPts val="1400"/>
              </a:spcAft>
              <a:defRPr sz="1450">
                <a:solidFill>
                  <a:srgbClr val="121822"/>
                </a:solidFill>
                <a:latin typeface="Hanken Grotesk"/>
              </a:defRPr>
            </a:pPr>
            <a:r>
              <a:t>❌  Manual timesheet logging and billing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411480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800"/>
              </a:spcAft>
              <a:defRPr sz="1500" b="1">
                <a:solidFill>
                  <a:srgbClr val="F48B29"/>
                </a:solidFill>
                <a:latin typeface="Hanken Grotesk"/>
              </a:defRPr>
            </a:pPr>
            <a:r>
              <a:t>S4C NINJA INKFLOW PORTAL</a:t>
            </a:r>
          </a:p>
          <a:p>
            <a:pPr>
              <a:spcAft>
                <a:spcPts val="1400"/>
              </a:spcAft>
              <a:defRPr sz="1450">
                <a:solidFill>
                  <a:srgbClr val="FFFFFF"/>
                </a:solidFill>
                <a:latin typeface="Hanken Grotesk"/>
              </a:defRPr>
            </a:pPr>
            <a:r>
              <a:t>✔  Zero-licence WYSIWYG &amp; WebDAV 'Open in Word'</a:t>
            </a:r>
          </a:p>
          <a:p>
            <a:pPr>
              <a:spcAft>
                <a:spcPts val="1400"/>
              </a:spcAft>
              <a:defRPr sz="1450">
                <a:solidFill>
                  <a:srgbClr val="FFFFFF"/>
                </a:solidFill>
                <a:latin typeface="Hanken Grotesk"/>
              </a:defRPr>
            </a:pPr>
            <a:r>
              <a:t>✔  Automated PPH tools (bias scan, credit, validation)</a:t>
            </a:r>
          </a:p>
          <a:p>
            <a:pPr>
              <a:spcAft>
                <a:spcPts val="1400"/>
              </a:spcAft>
              <a:defRPr sz="1450">
                <a:solidFill>
                  <a:srgbClr val="FFFFFF"/>
                </a:solidFill>
                <a:latin typeface="Hanken Grotesk"/>
              </a:defRPr>
            </a:pPr>
            <a:r>
              <a:t>✔  Integrated with S4C People Hub for roles</a:t>
            </a:r>
          </a:p>
          <a:p>
            <a:pPr>
              <a:spcAft>
                <a:spcPts val="1400"/>
              </a:spcAft>
              <a:defRPr sz="1450">
                <a:solidFill>
                  <a:srgbClr val="FFFFFF"/>
                </a:solidFill>
                <a:latin typeface="Hanken Grotesk"/>
              </a:defRPr>
            </a:pPr>
            <a:r>
              <a:t>✔  Checkout/checkin security prevents overwriting</a:t>
            </a:r>
          </a:p>
          <a:p>
            <a:pPr>
              <a:spcAft>
                <a:spcPts val="1400"/>
              </a:spcAft>
              <a:defRPr sz="1450">
                <a:solidFill>
                  <a:srgbClr val="FFFFFF"/>
                </a:solidFill>
                <a:latin typeface="Hanken Grotesk"/>
              </a:defRPr>
            </a:pPr>
            <a:r>
              <a:t>✔  Integrated timesheets, invoice trackers, and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809D"/>
                </a:solidFill>
                <a:latin typeface="Hanken Grotesk"/>
              </a:defRPr>
            </a:pPr>
            <a:r>
              <a:t>S4C Ninja Inkflow  |  Executive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8809D"/>
                </a:solidFill>
                <a:latin typeface="Hanken Grotesk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70803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pectral"/>
              </a:defRPr>
            </a:pPr>
            <a:r>
              <a:rPr dirty="0"/>
              <a:t>Conclusion &amp; Next Steps</a:t>
            </a:r>
          </a:p>
        </p:txBody>
      </p:sp>
      <p:pic>
        <p:nvPicPr>
          <p:cNvPr id="3" name="Picture 2" descr="s4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435667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577573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48B29"/>
                </a:solidFill>
                <a:latin typeface="Hanken Grotesk"/>
              </a:defRPr>
            </a:pPr>
            <a:r>
              <a:rPr dirty="0"/>
              <a:t>1.  Establish Pilot Phase with S4C People Hub Profiles</a:t>
            </a:r>
          </a:p>
          <a:p>
            <a:pPr>
              <a:spcAft>
                <a:spcPts val="2000"/>
              </a:spcAft>
              <a:defRPr sz="1500">
                <a:solidFill>
                  <a:srgbClr val="FFFFFF"/>
                </a:solidFill>
                <a:latin typeface="Hanken Grotesk"/>
              </a:defRPr>
            </a:pPr>
            <a:r>
              <a:rPr dirty="0"/>
              <a:t>Deploy initial portal synchronized with S4C People Hub to verify role mapping and WebDAV lock behaviors in Q3.</a:t>
            </a:r>
          </a:p>
          <a:p>
            <a:pPr>
              <a:spcAft>
                <a:spcPts val="200"/>
              </a:spcAft>
              <a:defRPr sz="2000" b="1">
                <a:solidFill>
                  <a:srgbClr val="F48B29"/>
                </a:solidFill>
                <a:latin typeface="Hanken Grotesk"/>
              </a:defRPr>
            </a:pPr>
            <a:r>
              <a:rPr dirty="0"/>
              <a:t>2.  Initiate Custom WYSIWYG &amp; PPH Tests</a:t>
            </a:r>
          </a:p>
          <a:p>
            <a:pPr>
              <a:spcAft>
                <a:spcPts val="2000"/>
              </a:spcAft>
              <a:defRPr sz="1500">
                <a:solidFill>
                  <a:srgbClr val="FFFFFF"/>
                </a:solidFill>
                <a:latin typeface="Hanken Grotesk"/>
              </a:defRPr>
            </a:pPr>
            <a:r>
              <a:rPr dirty="0"/>
              <a:t>Launch automated bias scanning, reference validation, and technical editing tests with 5 lead users.</a:t>
            </a:r>
          </a:p>
          <a:p>
            <a:pPr>
              <a:spcAft>
                <a:spcPts val="200"/>
              </a:spcAft>
              <a:defRPr sz="2000" b="1">
                <a:solidFill>
                  <a:srgbClr val="F48B29"/>
                </a:solidFill>
                <a:latin typeface="Hanken Grotesk"/>
              </a:defRPr>
            </a:pPr>
            <a:r>
              <a:rPr dirty="0"/>
              <a:t>3.  Approve Expansion Roadmap</a:t>
            </a:r>
          </a:p>
          <a:p>
            <a:pPr>
              <a:spcAft>
                <a:spcPts val="2000"/>
              </a:spcAft>
              <a:defRPr sz="1500">
                <a:solidFill>
                  <a:srgbClr val="FFFFFF"/>
                </a:solidFill>
                <a:latin typeface="Hanken Grotesk"/>
              </a:defRPr>
            </a:pPr>
            <a:r>
              <a:rPr dirty="0"/>
              <a:t>Allocate budget for Phase 2: timesheets, automated billing, chapter tracking, and journal production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48B29"/>
                </a:solidFill>
                <a:latin typeface="Hanken Grotesk"/>
              </a:defRPr>
            </a:pPr>
            <a:r>
              <a:t>S4C Ninja Inkflow  |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Hanken Grotesk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904</Words>
  <Application>Microsoft Office PowerPoint</Application>
  <PresentationFormat>Custom</PresentationFormat>
  <Paragraphs>113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Murali Balu</cp:lastModifiedBy>
  <cp:revision>2</cp:revision>
  <dcterms:created xsi:type="dcterms:W3CDTF">2013-01-27T09:14:16Z</dcterms:created>
  <dcterms:modified xsi:type="dcterms:W3CDTF">2026-07-10T03:30:23Z</dcterms:modified>
  <cp:category/>
</cp:coreProperties>
</file>